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344" y="-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A4036-04B6-E842-81D8-0CB8095F5284}" type="datetimeFigureOut">
              <a:rPr lang="ru-RU" smtClean="0"/>
              <a:t>02.05.16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smtClean="0"/>
              <a:t>Образец текста</a:t>
            </a:r>
          </a:p>
          <a:p>
            <a:pPr lvl="1"/>
            <a:r>
              <a:rPr lang="en-GB" smtClean="0"/>
              <a:t>Второй уровень</a:t>
            </a:r>
          </a:p>
          <a:p>
            <a:pPr lvl="2"/>
            <a:r>
              <a:rPr lang="en-GB" smtClean="0"/>
              <a:t>Третий уровень</a:t>
            </a:r>
          </a:p>
          <a:p>
            <a:pPr lvl="3"/>
            <a:r>
              <a:rPr lang="en-GB" smtClean="0"/>
              <a:t>Четвертый уровень</a:t>
            </a:r>
          </a:p>
          <a:p>
            <a:pPr lvl="4"/>
            <a:r>
              <a:rPr lang="en-GB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21628-4F10-C649-9F57-ECE9167D87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772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D21628-4F10-C649-9F57-ECE9167D872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119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D21628-4F10-C649-9F57-ECE9167D872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119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D21628-4F10-C649-9F57-ECE9167D872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119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D21628-4F10-C649-9F57-ECE9167D872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119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D21628-4F10-C649-9F57-ECE9167D872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119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D21628-4F10-C649-9F57-ECE9167D872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119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D21628-4F10-C649-9F57-ECE9167D872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119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D21628-4F10-C649-9F57-ECE9167D872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119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D21628-4F10-C649-9F57-ECE9167D872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119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30DB-138A-7945-9AC0-0F2791766AAD}" type="datetimeFigureOut">
              <a:rPr lang="ru-RU" smtClean="0"/>
              <a:t>02.05.16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FBF4-8D8E-C240-8E17-3B5BBB35F1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182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Образец текста</a:t>
            </a:r>
          </a:p>
          <a:p>
            <a:pPr lvl="1"/>
            <a:r>
              <a:rPr lang="en-GB" smtClean="0"/>
              <a:t>Второй уровень</a:t>
            </a:r>
          </a:p>
          <a:p>
            <a:pPr lvl="2"/>
            <a:r>
              <a:rPr lang="en-GB" smtClean="0"/>
              <a:t>Третий уровень</a:t>
            </a:r>
          </a:p>
          <a:p>
            <a:pPr lvl="3"/>
            <a:r>
              <a:rPr lang="en-GB" smtClean="0"/>
              <a:t>Четвертый уровень</a:t>
            </a:r>
          </a:p>
          <a:p>
            <a:pPr lvl="4"/>
            <a:r>
              <a:rPr lang="en-GB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30DB-138A-7945-9AC0-0F2791766AAD}" type="datetimeFigureOut">
              <a:rPr lang="ru-RU" smtClean="0"/>
              <a:t>02.05.16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FBF4-8D8E-C240-8E17-3B5BBB35F1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979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30DB-138A-7945-9AC0-0F2791766AAD}" type="datetimeFigureOut">
              <a:rPr lang="ru-RU" smtClean="0"/>
              <a:t>02.05.16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FBF4-8D8E-C240-8E17-3B5BBB35F1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1435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Образец текста</a:t>
            </a:r>
          </a:p>
          <a:p>
            <a:pPr lvl="1"/>
            <a:r>
              <a:rPr lang="en-GB" smtClean="0"/>
              <a:t>Второй уровень</a:t>
            </a:r>
          </a:p>
          <a:p>
            <a:pPr lvl="2"/>
            <a:r>
              <a:rPr lang="en-GB" smtClean="0"/>
              <a:t>Третий уровень</a:t>
            </a:r>
          </a:p>
          <a:p>
            <a:pPr lvl="3"/>
            <a:r>
              <a:rPr lang="en-GB" smtClean="0"/>
              <a:t>Четвертый уровень</a:t>
            </a:r>
          </a:p>
          <a:p>
            <a:pPr lvl="4"/>
            <a:r>
              <a:rPr lang="en-GB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Образец текста</a:t>
            </a:r>
          </a:p>
          <a:p>
            <a:pPr lvl="1"/>
            <a:r>
              <a:rPr lang="en-GB" smtClean="0"/>
              <a:t>Второй уровень</a:t>
            </a:r>
          </a:p>
          <a:p>
            <a:pPr lvl="2"/>
            <a:r>
              <a:rPr lang="en-GB" smtClean="0"/>
              <a:t>Третий уровень</a:t>
            </a:r>
          </a:p>
          <a:p>
            <a:pPr lvl="3"/>
            <a:r>
              <a:rPr lang="en-GB" smtClean="0"/>
              <a:t>Четвертый уровень</a:t>
            </a:r>
          </a:p>
          <a:p>
            <a:pPr lvl="4"/>
            <a:r>
              <a:rPr lang="en-GB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30DB-138A-7945-9AC0-0F2791766AAD}" type="datetimeFigureOut">
              <a:rPr lang="ru-RU" smtClean="0"/>
              <a:t>02.05.16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FBF4-8D8E-C240-8E17-3B5BBB35F1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71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Образец текста</a:t>
            </a:r>
          </a:p>
          <a:p>
            <a:pPr lvl="1"/>
            <a:r>
              <a:rPr lang="en-GB" smtClean="0"/>
              <a:t>Второй уровень</a:t>
            </a:r>
          </a:p>
          <a:p>
            <a:pPr lvl="2"/>
            <a:r>
              <a:rPr lang="en-GB" smtClean="0"/>
              <a:t>Третий уровень</a:t>
            </a:r>
          </a:p>
          <a:p>
            <a:pPr lvl="3"/>
            <a:r>
              <a:rPr lang="en-GB" smtClean="0"/>
              <a:t>Четвертый уровень</a:t>
            </a:r>
          </a:p>
          <a:p>
            <a:pPr lvl="4"/>
            <a:r>
              <a:rPr lang="en-GB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Образец текста</a:t>
            </a:r>
          </a:p>
          <a:p>
            <a:pPr lvl="1"/>
            <a:r>
              <a:rPr lang="en-GB" smtClean="0"/>
              <a:t>Второй уровень</a:t>
            </a:r>
          </a:p>
          <a:p>
            <a:pPr lvl="2"/>
            <a:r>
              <a:rPr lang="en-GB" smtClean="0"/>
              <a:t>Третий уровень</a:t>
            </a:r>
          </a:p>
          <a:p>
            <a:pPr lvl="3"/>
            <a:r>
              <a:rPr lang="en-GB" smtClean="0"/>
              <a:t>Четвертый уровень</a:t>
            </a:r>
          </a:p>
          <a:p>
            <a:pPr lvl="4"/>
            <a:r>
              <a:rPr lang="en-GB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30DB-138A-7945-9AC0-0F2791766AAD}" type="datetimeFigureOut">
              <a:rPr lang="ru-RU" smtClean="0"/>
              <a:t>02.05.16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FBF4-8D8E-C240-8E17-3B5BBB35F1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1104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30DB-138A-7945-9AC0-0F2791766AAD}" type="datetimeFigureOut">
              <a:rPr lang="ru-RU" smtClean="0"/>
              <a:t>02.05.16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FBF4-8D8E-C240-8E17-3B5BBB35F1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184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30DB-138A-7945-9AC0-0F2791766AAD}" type="datetimeFigureOut">
              <a:rPr lang="ru-RU" smtClean="0"/>
              <a:t>02.05.16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FBF4-8D8E-C240-8E17-3B5BBB35F1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952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Образец текста</a:t>
            </a:r>
          </a:p>
          <a:p>
            <a:pPr lvl="1"/>
            <a:r>
              <a:rPr lang="en-GB" smtClean="0"/>
              <a:t>Второй уровень</a:t>
            </a:r>
          </a:p>
          <a:p>
            <a:pPr lvl="2"/>
            <a:r>
              <a:rPr lang="en-GB" smtClean="0"/>
              <a:t>Третий уровень</a:t>
            </a:r>
          </a:p>
          <a:p>
            <a:pPr lvl="3"/>
            <a:r>
              <a:rPr lang="en-GB" smtClean="0"/>
              <a:t>Четвертый уровень</a:t>
            </a:r>
          </a:p>
          <a:p>
            <a:pPr lvl="4"/>
            <a:r>
              <a:rPr lang="en-GB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30DB-138A-7945-9AC0-0F2791766AAD}" type="datetimeFigureOut">
              <a:rPr lang="ru-RU" smtClean="0"/>
              <a:t>02.05.16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FBF4-8D8E-C240-8E17-3B5BBB35F1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306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30DB-138A-7945-9AC0-0F2791766AAD}" type="datetimeFigureOut">
              <a:rPr lang="ru-RU" smtClean="0"/>
              <a:t>02.05.16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FBF4-8D8E-C240-8E17-3B5BBB35F1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3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Образец текста</a:t>
            </a:r>
          </a:p>
          <a:p>
            <a:pPr lvl="1"/>
            <a:r>
              <a:rPr lang="en-GB" smtClean="0"/>
              <a:t>Второй уровень</a:t>
            </a:r>
          </a:p>
          <a:p>
            <a:pPr lvl="2"/>
            <a:r>
              <a:rPr lang="en-GB" smtClean="0"/>
              <a:t>Третий уровень</a:t>
            </a:r>
          </a:p>
          <a:p>
            <a:pPr lvl="3"/>
            <a:r>
              <a:rPr lang="en-GB" smtClean="0"/>
              <a:t>Четвертый уровень</a:t>
            </a:r>
          </a:p>
          <a:p>
            <a:pPr lvl="4"/>
            <a:r>
              <a:rPr lang="en-GB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30DB-138A-7945-9AC0-0F2791766AAD}" type="datetimeFigureOut">
              <a:rPr lang="ru-RU" smtClean="0"/>
              <a:t>02.05.16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FBF4-8D8E-C240-8E17-3B5BBB35F1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370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Образец текста</a:t>
            </a:r>
          </a:p>
          <a:p>
            <a:pPr lvl="1"/>
            <a:r>
              <a:rPr lang="en-GB" smtClean="0"/>
              <a:t>Второй уровень</a:t>
            </a:r>
          </a:p>
          <a:p>
            <a:pPr lvl="2"/>
            <a:r>
              <a:rPr lang="en-GB" smtClean="0"/>
              <a:t>Третий уровень</a:t>
            </a:r>
          </a:p>
          <a:p>
            <a:pPr lvl="3"/>
            <a:r>
              <a:rPr lang="en-GB" smtClean="0"/>
              <a:t>Четвертый уровень</a:t>
            </a:r>
          </a:p>
          <a:p>
            <a:pPr lvl="4"/>
            <a:r>
              <a:rPr lang="en-GB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30DB-138A-7945-9AC0-0F2791766AAD}" type="datetimeFigureOut">
              <a:rPr lang="ru-RU" smtClean="0"/>
              <a:t>02.05.16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FBF4-8D8E-C240-8E17-3B5BBB35F1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050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Образец текста</a:t>
            </a:r>
          </a:p>
          <a:p>
            <a:pPr lvl="1"/>
            <a:r>
              <a:rPr lang="en-GB" smtClean="0"/>
              <a:t>Второй уровень</a:t>
            </a:r>
          </a:p>
          <a:p>
            <a:pPr lvl="2"/>
            <a:r>
              <a:rPr lang="en-GB" smtClean="0"/>
              <a:t>Третий уровень</a:t>
            </a:r>
          </a:p>
          <a:p>
            <a:pPr lvl="3"/>
            <a:r>
              <a:rPr lang="en-GB" smtClean="0"/>
              <a:t>Четвертый уровень</a:t>
            </a:r>
          </a:p>
          <a:p>
            <a:pPr lvl="4"/>
            <a:r>
              <a:rPr lang="en-GB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930DB-138A-7945-9AC0-0F2791766AAD}" type="datetimeFigureOut">
              <a:rPr lang="ru-RU" smtClean="0"/>
              <a:t>02.05.16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1FBF4-8D8E-C240-8E17-3B5BBB35F1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263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 descr="geo_background_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953" y="-77454"/>
            <a:ext cx="9367737" cy="6935454"/>
          </a:xfrm>
          <a:prstGeom prst="rect">
            <a:avLst/>
          </a:prstGeom>
        </p:spPr>
      </p:pic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732259" y="2316332"/>
            <a:ext cx="7772400" cy="1470025"/>
          </a:xfrm>
        </p:spPr>
        <p:txBody>
          <a:bodyPr>
            <a:normAutofit fontScale="90000"/>
          </a:bodyPr>
          <a:lstStyle/>
          <a:p>
            <a:pPr lvl="0" algn="l"/>
            <a:r>
              <a:rPr lang="ru-RU" sz="6000" b="1" dirty="0">
                <a:solidFill>
                  <a:schemeClr val="bg1"/>
                </a:solidFill>
              </a:rPr>
              <a:t>GEO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en-GB" b="1" dirty="0" smtClean="0">
                <a:solidFill>
                  <a:schemeClr val="bg1"/>
                </a:solidFill>
              </a:rPr>
              <a:t/>
            </a:r>
            <a:br>
              <a:rPr lang="en-GB" b="1" dirty="0" smtClean="0">
                <a:solidFill>
                  <a:schemeClr val="bg1"/>
                </a:solidFill>
              </a:rPr>
            </a:br>
            <a:r>
              <a:rPr lang="en-GB" dirty="0" smtClean="0">
                <a:solidFill>
                  <a:schemeClr val="bg1"/>
                </a:solidFill>
              </a:rPr>
              <a:t>The Economics of Interchange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67568" y="4434122"/>
            <a:ext cx="6208965" cy="1492543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dirty="0" smtClean="0">
                <a:solidFill>
                  <a:srgbClr val="FFFFFF"/>
                </a:solidFill>
              </a:rPr>
              <a:t>GEO </a:t>
            </a:r>
            <a:r>
              <a:rPr lang="en-US" dirty="0">
                <a:solidFill>
                  <a:srgbClr val="FFFFFF"/>
                </a:solidFill>
              </a:rPr>
              <a:t>– is a platform for economic cooperation between people by creating a user-friendly instruments for exchange or payment</a:t>
            </a:r>
          </a:p>
          <a:p>
            <a:pPr algn="l"/>
            <a:endParaRPr lang="en-US" dirty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20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 descr="geo_background_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953" y="-77454"/>
            <a:ext cx="9367737" cy="6935454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4051" y="1208190"/>
            <a:ext cx="8363768" cy="526644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Problem to be solved by GEO </a:t>
            </a:r>
            <a:r>
              <a:rPr lang="en-US" dirty="0" smtClean="0">
                <a:solidFill>
                  <a:srgbClr val="FFFFFF"/>
                </a:solidFill>
              </a:rPr>
              <a:t>– </a:t>
            </a:r>
            <a:r>
              <a:rPr lang="en-US" dirty="0">
                <a:solidFill>
                  <a:srgbClr val="FFFFFF"/>
                </a:solidFill>
              </a:rPr>
              <a:t>limiting </a:t>
            </a:r>
            <a:r>
              <a:rPr lang="en-US" dirty="0" smtClean="0">
                <a:solidFill>
                  <a:srgbClr val="FFFFFF"/>
                </a:solidFill>
              </a:rPr>
              <a:t>and </a:t>
            </a:r>
            <a:r>
              <a:rPr lang="en-US" dirty="0">
                <a:solidFill>
                  <a:srgbClr val="FFFFFF"/>
                </a:solidFill>
              </a:rPr>
              <a:t>destructive influence of the current financial system on the relationships between people</a:t>
            </a:r>
          </a:p>
          <a:p>
            <a:pPr algn="l"/>
            <a:endParaRPr lang="en-US" dirty="0">
              <a:solidFill>
                <a:srgbClr val="FFFFFF"/>
              </a:solidFill>
            </a:endParaRPr>
          </a:p>
          <a:p>
            <a:pPr algn="l"/>
            <a:r>
              <a:rPr lang="en-US" dirty="0">
                <a:solidFill>
                  <a:srgbClr val="FFFFFF"/>
                </a:solidFill>
              </a:rPr>
              <a:t>USER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uncomfortable </a:t>
            </a:r>
            <a:r>
              <a:rPr lang="en-US" dirty="0">
                <a:solidFill>
                  <a:srgbClr val="FFFFFF"/>
                </a:solidFill>
              </a:rPr>
              <a:t>payment system and transfers, that charge fee (commission, time conversion)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limited consumption possibilities  because of need to </a:t>
            </a:r>
            <a:r>
              <a:rPr lang="en-US" dirty="0">
                <a:solidFill>
                  <a:srgbClr val="FFFFFF"/>
                </a:solidFill>
              </a:rPr>
              <a:t>use money as an exclusive medium of exchange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the </a:t>
            </a:r>
            <a:r>
              <a:rPr lang="en-US" dirty="0">
                <a:solidFill>
                  <a:srgbClr val="FFFFFF"/>
                </a:solidFill>
              </a:rPr>
              <a:t>relative security of the assets in the accounts</a:t>
            </a:r>
          </a:p>
          <a:p>
            <a:pPr algn="l"/>
            <a:endParaRPr lang="en-US" dirty="0">
              <a:solidFill>
                <a:srgbClr val="FFFFFF"/>
              </a:solidFill>
            </a:endParaRPr>
          </a:p>
          <a:p>
            <a:pPr algn="l"/>
            <a:r>
              <a:rPr lang="en-US" dirty="0">
                <a:solidFill>
                  <a:srgbClr val="FFFFFF"/>
                </a:solidFill>
              </a:rPr>
              <a:t>BUSINESS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a </a:t>
            </a:r>
            <a:r>
              <a:rPr lang="en-US" dirty="0">
                <a:solidFill>
                  <a:srgbClr val="FFFFFF"/>
                </a:solidFill>
              </a:rPr>
              <a:t>complex system of international payments and conversions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limited </a:t>
            </a:r>
            <a:r>
              <a:rPr lang="en-US" dirty="0">
                <a:solidFill>
                  <a:srgbClr val="FFFFFF"/>
                </a:solidFill>
              </a:rPr>
              <a:t>access to financial resources (interest on equity)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dependence </a:t>
            </a:r>
            <a:r>
              <a:rPr lang="en-US" dirty="0">
                <a:solidFill>
                  <a:srgbClr val="FFFFFF"/>
                </a:solidFill>
              </a:rPr>
              <a:t>of the business development on the external financial system</a:t>
            </a:r>
          </a:p>
          <a:p>
            <a:pPr algn="l"/>
            <a:endParaRPr lang="en-US" dirty="0">
              <a:solidFill>
                <a:srgbClr val="FFFFFF"/>
              </a:solidFill>
            </a:endParaRPr>
          </a:p>
          <a:p>
            <a:pPr algn="l"/>
            <a:r>
              <a:rPr lang="en-US" dirty="0">
                <a:solidFill>
                  <a:srgbClr val="FFFFFF"/>
                </a:solidFill>
              </a:rPr>
              <a:t>SOCIETY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financial </a:t>
            </a:r>
            <a:r>
              <a:rPr lang="en-US" dirty="0">
                <a:solidFill>
                  <a:srgbClr val="FFFFFF"/>
                </a:solidFill>
              </a:rPr>
              <a:t>and socio-economic system is live and develop according to different laws (financial crises, inflation, etc.)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payment </a:t>
            </a:r>
            <a:r>
              <a:rPr lang="en-US" dirty="0">
                <a:solidFill>
                  <a:srgbClr val="FFFFFF"/>
                </a:solidFill>
              </a:rPr>
              <a:t>deficit on different levels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unequal </a:t>
            </a:r>
            <a:r>
              <a:rPr lang="en-US" dirty="0">
                <a:solidFill>
                  <a:srgbClr val="FFFFFF"/>
                </a:solidFill>
              </a:rPr>
              <a:t>distribution of wealth (resources)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inefficient </a:t>
            </a:r>
            <a:r>
              <a:rPr lang="en-US" dirty="0">
                <a:solidFill>
                  <a:srgbClr val="FFFFFF"/>
                </a:solidFill>
              </a:rPr>
              <a:t>centralized management of quality and quantity of means of payment</a:t>
            </a:r>
          </a:p>
          <a:p>
            <a:pPr algn="l"/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7" name="Название 1"/>
          <p:cNvSpPr>
            <a:spLocks noGrp="1"/>
          </p:cNvSpPr>
          <p:nvPr>
            <p:ph type="ctrTitle"/>
          </p:nvPr>
        </p:nvSpPr>
        <p:spPr>
          <a:xfrm>
            <a:off x="573069" y="333613"/>
            <a:ext cx="8055494" cy="1060448"/>
          </a:xfrm>
        </p:spPr>
        <p:txBody>
          <a:bodyPr>
            <a:normAutofit fontScale="90000"/>
          </a:bodyPr>
          <a:lstStyle/>
          <a:p>
            <a:pPr lvl="0" algn="l"/>
            <a:r>
              <a:rPr lang="ru-RU" b="1" dirty="0">
                <a:solidFill>
                  <a:schemeClr val="bg1"/>
                </a:solidFill>
              </a:rPr>
              <a:t>GEO </a:t>
            </a:r>
            <a:r>
              <a:rPr lang="en-GB" b="1" dirty="0" smtClean="0">
                <a:solidFill>
                  <a:schemeClr val="bg1"/>
                </a:solidFill>
              </a:rPr>
              <a:t/>
            </a:r>
            <a:br>
              <a:rPr lang="en-GB" b="1" dirty="0" smtClean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319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 descr="geo_background_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953" y="-77454"/>
            <a:ext cx="9367737" cy="6935454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4051" y="1208190"/>
            <a:ext cx="8363768" cy="526644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GEO offers an alternative way of economic interaction - the implementation and usage of a decentralized system of trust bonds between people</a:t>
            </a:r>
          </a:p>
          <a:p>
            <a:pPr algn="l"/>
            <a:endParaRPr lang="en-US" dirty="0">
              <a:solidFill>
                <a:srgbClr val="FFFFFF"/>
              </a:solidFill>
            </a:endParaRPr>
          </a:p>
          <a:p>
            <a:pPr algn="l"/>
            <a:r>
              <a:rPr lang="en-US" dirty="0">
                <a:solidFill>
                  <a:srgbClr val="FFFFFF"/>
                </a:solidFill>
              </a:rPr>
              <a:t>USER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convenient </a:t>
            </a:r>
            <a:r>
              <a:rPr lang="en-US" dirty="0">
                <a:solidFill>
                  <a:srgbClr val="FFFFFF"/>
                </a:solidFill>
              </a:rPr>
              <a:t>free way of payment 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increase </a:t>
            </a:r>
            <a:r>
              <a:rPr lang="en-US" dirty="0">
                <a:solidFill>
                  <a:srgbClr val="FFFFFF"/>
                </a:solidFill>
              </a:rPr>
              <a:t>of opportunities to use goods and services by a relationship of trust between the people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protection </a:t>
            </a:r>
            <a:r>
              <a:rPr lang="en-US" dirty="0">
                <a:solidFill>
                  <a:srgbClr val="FFFFFF"/>
                </a:solidFill>
              </a:rPr>
              <a:t>of assets and information by the technical system decentralization</a:t>
            </a:r>
          </a:p>
          <a:p>
            <a:pPr algn="l"/>
            <a:endParaRPr lang="en-US" dirty="0">
              <a:solidFill>
                <a:srgbClr val="FFFFFF"/>
              </a:solidFill>
            </a:endParaRPr>
          </a:p>
          <a:p>
            <a:pPr algn="l"/>
            <a:r>
              <a:rPr lang="en-US" dirty="0">
                <a:solidFill>
                  <a:srgbClr val="FFFFFF"/>
                </a:solidFill>
              </a:rPr>
              <a:t>BUSINESS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instant </a:t>
            </a:r>
            <a:r>
              <a:rPr lang="en-US" dirty="0">
                <a:solidFill>
                  <a:srgbClr val="FFFFFF"/>
                </a:solidFill>
              </a:rPr>
              <a:t>offsets and automatic payments (including international)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interest</a:t>
            </a:r>
            <a:r>
              <a:rPr lang="en-US" dirty="0">
                <a:solidFill>
                  <a:srgbClr val="FFFFFF"/>
                </a:solidFill>
              </a:rPr>
              <a:t>-free credit resources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expansion </a:t>
            </a:r>
            <a:r>
              <a:rPr lang="en-US" dirty="0">
                <a:solidFill>
                  <a:srgbClr val="FFFFFF"/>
                </a:solidFill>
              </a:rPr>
              <a:t>of sales opportunities by increasing the purchasing power</a:t>
            </a:r>
          </a:p>
          <a:p>
            <a:pPr algn="l"/>
            <a:endParaRPr lang="en-US" dirty="0">
              <a:solidFill>
                <a:srgbClr val="FFFFFF"/>
              </a:solidFill>
            </a:endParaRPr>
          </a:p>
          <a:p>
            <a:pPr algn="l"/>
            <a:endParaRPr lang="en-US" dirty="0">
              <a:solidFill>
                <a:srgbClr val="FFFFFF"/>
              </a:solidFill>
            </a:endParaRPr>
          </a:p>
          <a:p>
            <a:pPr algn="l"/>
            <a:r>
              <a:rPr lang="en-US" dirty="0">
                <a:solidFill>
                  <a:srgbClr val="FFFFFF"/>
                </a:solidFill>
              </a:rPr>
              <a:t>SOCIETY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resources </a:t>
            </a:r>
            <a:r>
              <a:rPr lang="en-US" dirty="0">
                <a:solidFill>
                  <a:srgbClr val="FFFFFF"/>
                </a:solidFill>
              </a:rPr>
              <a:t>of exchange are generated directly by the members of society in accordance with the economic feasibility, and the excess is automatically deleted from the system as unnecessary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access </a:t>
            </a:r>
            <a:r>
              <a:rPr lang="en-US" dirty="0">
                <a:solidFill>
                  <a:srgbClr val="FFFFFF"/>
                </a:solidFill>
              </a:rPr>
              <a:t>to the means of exchange is practically unlimited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human </a:t>
            </a:r>
            <a:r>
              <a:rPr lang="en-US" dirty="0">
                <a:solidFill>
                  <a:srgbClr val="FFFFFF"/>
                </a:solidFill>
              </a:rPr>
              <a:t>well-being (enterprises, communities) depends only on the kind of value it creates for society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effective </a:t>
            </a:r>
            <a:r>
              <a:rPr lang="en-US" dirty="0">
                <a:solidFill>
                  <a:srgbClr val="FFFFFF"/>
                </a:solidFill>
              </a:rPr>
              <a:t>decentralized and automatic regulation of economic processes (reduction or absence of the causes of financial crises, inflation, etc.)</a:t>
            </a:r>
          </a:p>
          <a:p>
            <a:pPr algn="l"/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7" name="Название 1"/>
          <p:cNvSpPr>
            <a:spLocks noGrp="1"/>
          </p:cNvSpPr>
          <p:nvPr>
            <p:ph type="ctrTitle"/>
          </p:nvPr>
        </p:nvSpPr>
        <p:spPr>
          <a:xfrm>
            <a:off x="588557" y="101263"/>
            <a:ext cx="8055494" cy="1060448"/>
          </a:xfrm>
        </p:spPr>
        <p:txBody>
          <a:bodyPr>
            <a:normAutofit/>
          </a:bodyPr>
          <a:lstStyle/>
          <a:p>
            <a:pPr lvl="0" algn="l"/>
            <a:r>
              <a:rPr lang="en-GB" sz="4000" b="1" dirty="0" smtClean="0">
                <a:solidFill>
                  <a:schemeClr val="bg1"/>
                </a:solidFill>
              </a:rPr>
              <a:t>SOLUTION</a:t>
            </a:r>
            <a:endParaRPr lang="ru-RU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011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 descr="geo_background_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953" y="-77454"/>
            <a:ext cx="9367737" cy="6935454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4051" y="1208190"/>
            <a:ext cx="8363768" cy="5266448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rgbClr val="FFFFFF"/>
                </a:solidFill>
              </a:rPr>
              <a:t>- people </a:t>
            </a:r>
            <a:r>
              <a:rPr lang="en-US" dirty="0">
                <a:solidFill>
                  <a:srgbClr val="FFFFFF"/>
                </a:solidFill>
              </a:rPr>
              <a:t>themselves can create a resource of exchange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people </a:t>
            </a:r>
            <a:r>
              <a:rPr lang="en-US" dirty="0">
                <a:solidFill>
                  <a:srgbClr val="FFFFFF"/>
                </a:solidFill>
              </a:rPr>
              <a:t>themselves can create equivalents (currency) value of measurement for goods and services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people </a:t>
            </a:r>
            <a:r>
              <a:rPr lang="en-US" dirty="0">
                <a:solidFill>
                  <a:srgbClr val="FFFFFF"/>
                </a:solidFill>
              </a:rPr>
              <a:t>themselves determine the quality of the means of payment by selecting equivalent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people </a:t>
            </a:r>
            <a:r>
              <a:rPr lang="en-US" dirty="0">
                <a:solidFill>
                  <a:srgbClr val="FFFFFF"/>
                </a:solidFill>
              </a:rPr>
              <a:t>improve their well-being by creating a new relationship of trust</a:t>
            </a:r>
          </a:p>
          <a:p>
            <a:pPr algn="l"/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7" name="Название 1"/>
          <p:cNvSpPr>
            <a:spLocks noGrp="1"/>
          </p:cNvSpPr>
          <p:nvPr>
            <p:ph type="ctrTitle"/>
          </p:nvPr>
        </p:nvSpPr>
        <p:spPr>
          <a:xfrm>
            <a:off x="588557" y="101263"/>
            <a:ext cx="8055494" cy="1060448"/>
          </a:xfrm>
        </p:spPr>
        <p:txBody>
          <a:bodyPr>
            <a:normAutofit/>
          </a:bodyPr>
          <a:lstStyle/>
          <a:p>
            <a:pPr lvl="0" algn="l"/>
            <a:r>
              <a:rPr lang="en-GB" sz="4000" b="1" dirty="0" smtClean="0">
                <a:solidFill>
                  <a:schemeClr val="bg1"/>
                </a:solidFill>
              </a:rPr>
              <a:t>CAPABILITIES</a:t>
            </a:r>
            <a:endParaRPr lang="ru-RU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479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 descr="geo_background_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953" y="-77454"/>
            <a:ext cx="9367737" cy="6935454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4051" y="1208190"/>
            <a:ext cx="8363768" cy="5266448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rgbClr val="FFFFFF"/>
                </a:solidFill>
              </a:rPr>
              <a:t>- people </a:t>
            </a:r>
            <a:r>
              <a:rPr lang="en-US" dirty="0">
                <a:solidFill>
                  <a:srgbClr val="FFFFFF"/>
                </a:solidFill>
              </a:rPr>
              <a:t>- everyone can join the system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companies </a:t>
            </a:r>
            <a:r>
              <a:rPr lang="en-US" dirty="0">
                <a:solidFill>
                  <a:srgbClr val="FFFFFF"/>
                </a:solidFill>
              </a:rPr>
              <a:t>and services</a:t>
            </a:r>
          </a:p>
          <a:p>
            <a:pPr algn="l"/>
            <a:r>
              <a:rPr lang="en-US" dirty="0" smtClean="0">
                <a:solidFill>
                  <a:srgbClr val="FFFFFF"/>
                </a:solidFill>
              </a:rPr>
              <a:t>- non</a:t>
            </a:r>
            <a:r>
              <a:rPr lang="en-US" dirty="0">
                <a:solidFill>
                  <a:srgbClr val="FFFFFF"/>
                </a:solidFill>
              </a:rPr>
              <a:t>-profit organizations and other economic agents</a:t>
            </a:r>
          </a:p>
          <a:p>
            <a:pPr algn="l"/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7" name="Название 1"/>
          <p:cNvSpPr>
            <a:spLocks noGrp="1"/>
          </p:cNvSpPr>
          <p:nvPr>
            <p:ph type="ctrTitle"/>
          </p:nvPr>
        </p:nvSpPr>
        <p:spPr>
          <a:xfrm>
            <a:off x="588557" y="101263"/>
            <a:ext cx="8055494" cy="1060448"/>
          </a:xfrm>
        </p:spPr>
        <p:txBody>
          <a:bodyPr>
            <a:normAutofit/>
          </a:bodyPr>
          <a:lstStyle/>
          <a:p>
            <a:pPr lvl="0" algn="l"/>
            <a:r>
              <a:rPr lang="en-GB" sz="4000" b="1" dirty="0" smtClean="0">
                <a:solidFill>
                  <a:schemeClr val="bg1"/>
                </a:solidFill>
              </a:rPr>
              <a:t>SYSTEM USERS</a:t>
            </a:r>
            <a:endParaRPr lang="ru-RU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478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 descr="geo_background_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953" y="-77454"/>
            <a:ext cx="9367737" cy="6935454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4051" y="1208190"/>
            <a:ext cx="8363768" cy="5266448"/>
          </a:xfrm>
        </p:spPr>
        <p:txBody>
          <a:bodyPr>
            <a:normAutofit/>
          </a:bodyPr>
          <a:lstStyle/>
          <a:p>
            <a:pPr lvl="0" algn="l"/>
            <a:r>
              <a:rPr lang="en-US" dirty="0" smtClean="0">
                <a:solidFill>
                  <a:srgbClr val="FFFFFF"/>
                </a:solidFill>
              </a:rPr>
              <a:t>- quantity </a:t>
            </a:r>
            <a:r>
              <a:rPr lang="en-US" dirty="0">
                <a:solidFill>
                  <a:srgbClr val="FFFFFF"/>
                </a:solidFill>
              </a:rPr>
              <a:t>of active users</a:t>
            </a:r>
          </a:p>
          <a:p>
            <a:pPr lvl="0" algn="l"/>
            <a:r>
              <a:rPr lang="en-US" dirty="0" smtClean="0">
                <a:solidFill>
                  <a:srgbClr val="FFFFFF"/>
                </a:solidFill>
              </a:rPr>
              <a:t>- the </a:t>
            </a:r>
            <a:r>
              <a:rPr lang="en-US" dirty="0">
                <a:solidFill>
                  <a:srgbClr val="FFFFFF"/>
                </a:solidFill>
              </a:rPr>
              <a:t>number of transactions, netting</a:t>
            </a:r>
          </a:p>
          <a:p>
            <a:pPr lvl="0" algn="l"/>
            <a:r>
              <a:rPr lang="en-US" dirty="0" smtClean="0">
                <a:solidFill>
                  <a:srgbClr val="FFFFFF"/>
                </a:solidFill>
              </a:rPr>
              <a:t>- geography </a:t>
            </a:r>
            <a:r>
              <a:rPr lang="en-US" dirty="0">
                <a:solidFill>
                  <a:srgbClr val="FFFFFF"/>
                </a:solidFill>
              </a:rPr>
              <a:t>covered</a:t>
            </a:r>
          </a:p>
          <a:p>
            <a:pPr lvl="0" algn="l"/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7" name="Название 1"/>
          <p:cNvSpPr>
            <a:spLocks noGrp="1"/>
          </p:cNvSpPr>
          <p:nvPr>
            <p:ph type="ctrTitle"/>
          </p:nvPr>
        </p:nvSpPr>
        <p:spPr>
          <a:xfrm>
            <a:off x="588557" y="101263"/>
            <a:ext cx="8055494" cy="1060448"/>
          </a:xfrm>
        </p:spPr>
        <p:txBody>
          <a:bodyPr>
            <a:normAutofit/>
          </a:bodyPr>
          <a:lstStyle/>
          <a:p>
            <a:pPr lvl="0" algn="l"/>
            <a:r>
              <a:rPr lang="en-GB" sz="4000" b="1" dirty="0" smtClean="0">
                <a:solidFill>
                  <a:schemeClr val="bg1"/>
                </a:solidFill>
              </a:rPr>
              <a:t>KEY INDEXES</a:t>
            </a:r>
            <a:endParaRPr lang="ru-RU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478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 descr="geo_background_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953" y="-77454"/>
            <a:ext cx="9367737" cy="6935454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4051" y="1208190"/>
            <a:ext cx="8363768" cy="5266448"/>
          </a:xfrm>
        </p:spPr>
        <p:txBody>
          <a:bodyPr>
            <a:normAutofit/>
          </a:bodyPr>
          <a:lstStyle/>
          <a:p>
            <a:pPr lvl="0" algn="l"/>
            <a:r>
              <a:rPr lang="en-US" dirty="0" smtClean="0">
                <a:solidFill>
                  <a:srgbClr val="FFFFFF"/>
                </a:solidFill>
              </a:rPr>
              <a:t>- social </a:t>
            </a:r>
            <a:r>
              <a:rPr lang="en-US" dirty="0">
                <a:solidFill>
                  <a:srgbClr val="FFFFFF"/>
                </a:solidFill>
              </a:rPr>
              <a:t>and </a:t>
            </a:r>
            <a:r>
              <a:rPr lang="en-US" dirty="0" smtClean="0">
                <a:solidFill>
                  <a:srgbClr val="FFFFFF"/>
                </a:solidFill>
              </a:rPr>
              <a:t>territorial communities</a:t>
            </a:r>
            <a:endParaRPr lang="en-US" dirty="0">
              <a:solidFill>
                <a:srgbClr val="FFFFFF"/>
              </a:solidFill>
            </a:endParaRPr>
          </a:p>
          <a:p>
            <a:pPr lvl="0" algn="l"/>
            <a:r>
              <a:rPr lang="en-US" dirty="0" smtClean="0">
                <a:solidFill>
                  <a:srgbClr val="FFFFFF"/>
                </a:solidFill>
              </a:rPr>
              <a:t>- media </a:t>
            </a:r>
            <a:r>
              <a:rPr lang="en-US" dirty="0">
                <a:solidFill>
                  <a:srgbClr val="FFFFFF"/>
                </a:solidFill>
              </a:rPr>
              <a:t>resources on the Internet</a:t>
            </a:r>
          </a:p>
          <a:p>
            <a:pPr lvl="0" algn="l"/>
            <a:r>
              <a:rPr lang="en-US" dirty="0" smtClean="0">
                <a:solidFill>
                  <a:srgbClr val="FFFFFF"/>
                </a:solidFill>
              </a:rPr>
              <a:t>- personal </a:t>
            </a:r>
            <a:r>
              <a:rPr lang="en-US" dirty="0">
                <a:solidFill>
                  <a:srgbClr val="FFFFFF"/>
                </a:solidFill>
              </a:rPr>
              <a:t>recommendations</a:t>
            </a:r>
          </a:p>
          <a:p>
            <a:pPr lvl="0" algn="l"/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7" name="Название 1"/>
          <p:cNvSpPr>
            <a:spLocks noGrp="1"/>
          </p:cNvSpPr>
          <p:nvPr>
            <p:ph type="ctrTitle"/>
          </p:nvPr>
        </p:nvSpPr>
        <p:spPr>
          <a:xfrm>
            <a:off x="588557" y="101263"/>
            <a:ext cx="8055494" cy="1060448"/>
          </a:xfrm>
        </p:spPr>
        <p:txBody>
          <a:bodyPr>
            <a:normAutofit/>
          </a:bodyPr>
          <a:lstStyle/>
          <a:p>
            <a:pPr lvl="0" algn="l"/>
            <a:r>
              <a:rPr lang="en-GB" sz="4000" b="1" dirty="0" smtClean="0">
                <a:solidFill>
                  <a:schemeClr val="bg1"/>
                </a:solidFill>
              </a:rPr>
              <a:t>DISTRIBUTION CHANNELS</a:t>
            </a:r>
            <a:endParaRPr lang="ru-RU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845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 descr="geo_background_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953" y="-77454"/>
            <a:ext cx="9367737" cy="6935454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4051" y="1208190"/>
            <a:ext cx="8363768" cy="5266448"/>
          </a:xfrm>
        </p:spPr>
        <p:txBody>
          <a:bodyPr>
            <a:normAutofit/>
          </a:bodyPr>
          <a:lstStyle/>
          <a:p>
            <a:pPr marL="457200" lvl="0" indent="-457200" algn="l">
              <a:buFontTx/>
              <a:buChar char="-"/>
            </a:pPr>
            <a:r>
              <a:rPr lang="en-US" dirty="0">
                <a:solidFill>
                  <a:srgbClr val="FFFFFF"/>
                </a:solidFill>
              </a:rPr>
              <a:t>IT-production - $ 70,000</a:t>
            </a:r>
          </a:p>
          <a:p>
            <a:pPr marL="457200" lvl="0" indent="-457200" algn="l">
              <a:buFontTx/>
              <a:buChar char="-"/>
            </a:pPr>
            <a:r>
              <a:rPr lang="en-US" dirty="0">
                <a:solidFill>
                  <a:srgbClr val="FFFFFF"/>
                </a:solidFill>
              </a:rPr>
              <a:t>Media promotion at startup - $ 5000</a:t>
            </a:r>
          </a:p>
          <a:p>
            <a:pPr marL="457200" lvl="0" indent="-457200" algn="l">
              <a:buFontTx/>
              <a:buChar char="-"/>
            </a:pPr>
            <a:r>
              <a:rPr lang="en-US" dirty="0">
                <a:solidFill>
                  <a:srgbClr val="FFFFFF"/>
                </a:solidFill>
              </a:rPr>
              <a:t>Other expenses - $ </a:t>
            </a:r>
            <a:r>
              <a:rPr lang="en-US" dirty="0" smtClean="0">
                <a:solidFill>
                  <a:srgbClr val="FFFFFF"/>
                </a:solidFill>
              </a:rPr>
              <a:t>5000</a:t>
            </a:r>
          </a:p>
          <a:p>
            <a:pPr lvl="0" algn="l"/>
            <a:r>
              <a:rPr lang="en-US" dirty="0" smtClean="0">
                <a:solidFill>
                  <a:srgbClr val="FFFFFF"/>
                </a:solidFill>
              </a:rPr>
              <a:t>-----------------------------------------------------</a:t>
            </a:r>
            <a:endParaRPr lang="en-US" dirty="0">
              <a:solidFill>
                <a:srgbClr val="FFFFFF"/>
              </a:solidFill>
            </a:endParaRPr>
          </a:p>
          <a:p>
            <a:pPr lvl="0" algn="l"/>
            <a:r>
              <a:rPr lang="en-US" dirty="0" smtClean="0">
                <a:solidFill>
                  <a:srgbClr val="FFFFFF"/>
                </a:solidFill>
              </a:rPr>
              <a:t>     TOTAL </a:t>
            </a:r>
            <a:r>
              <a:rPr lang="en-US" dirty="0">
                <a:solidFill>
                  <a:srgbClr val="FFFFFF"/>
                </a:solidFill>
              </a:rPr>
              <a:t>- $ 80,000</a:t>
            </a:r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7" name="Название 1"/>
          <p:cNvSpPr>
            <a:spLocks noGrp="1"/>
          </p:cNvSpPr>
          <p:nvPr>
            <p:ph type="ctrTitle"/>
          </p:nvPr>
        </p:nvSpPr>
        <p:spPr>
          <a:xfrm>
            <a:off x="588557" y="101263"/>
            <a:ext cx="8055494" cy="1060448"/>
          </a:xfrm>
        </p:spPr>
        <p:txBody>
          <a:bodyPr>
            <a:normAutofit/>
          </a:bodyPr>
          <a:lstStyle/>
          <a:p>
            <a:pPr lvl="0" algn="l"/>
            <a:r>
              <a:rPr lang="en-GB" sz="4000" b="1" dirty="0" smtClean="0">
                <a:solidFill>
                  <a:schemeClr val="bg1"/>
                </a:solidFill>
              </a:rPr>
              <a:t>EXPENSES STRUCTURE</a:t>
            </a:r>
            <a:endParaRPr lang="ru-RU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845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 descr="geo_background_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953" y="-77454"/>
            <a:ext cx="9367737" cy="6935454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4051" y="1208190"/>
            <a:ext cx="8363768" cy="5266448"/>
          </a:xfrm>
        </p:spPr>
        <p:txBody>
          <a:bodyPr>
            <a:normAutofit/>
          </a:bodyPr>
          <a:lstStyle/>
          <a:p>
            <a:pPr lvl="0" algn="l"/>
            <a:r>
              <a:rPr lang="en-US" dirty="0" smtClean="0">
                <a:solidFill>
                  <a:srgbClr val="FFFFFF"/>
                </a:solidFill>
              </a:rPr>
              <a:t>- at </a:t>
            </a:r>
            <a:r>
              <a:rPr lang="en-US" dirty="0">
                <a:solidFill>
                  <a:srgbClr val="FFFFFF"/>
                </a:solidFill>
              </a:rPr>
              <a:t>the heart of the system lays a unique mathematical algorithm of the search of links and nettings</a:t>
            </a:r>
          </a:p>
          <a:p>
            <a:pPr lvl="0" algn="l"/>
            <a:r>
              <a:rPr lang="en-US" dirty="0" smtClean="0">
                <a:solidFill>
                  <a:srgbClr val="FFFFFF"/>
                </a:solidFill>
              </a:rPr>
              <a:t>- technically </a:t>
            </a:r>
            <a:r>
              <a:rPr lang="en-US" dirty="0">
                <a:solidFill>
                  <a:srgbClr val="FFFFFF"/>
                </a:solidFill>
              </a:rPr>
              <a:t>decentralized system is designed as an innovative </a:t>
            </a:r>
            <a:r>
              <a:rPr lang="en-US" dirty="0" smtClean="0">
                <a:solidFill>
                  <a:srgbClr val="FFFFFF"/>
                </a:solidFill>
              </a:rPr>
              <a:t>p2p </a:t>
            </a:r>
            <a:r>
              <a:rPr lang="en-US" dirty="0">
                <a:solidFill>
                  <a:srgbClr val="FFFFFF"/>
                </a:solidFill>
              </a:rPr>
              <a:t>system in which computing and protective functions are distributed between user devices, using a minimum of resources</a:t>
            </a:r>
          </a:p>
          <a:p>
            <a:pPr lvl="0" algn="l"/>
            <a:r>
              <a:rPr lang="en-US" dirty="0" smtClean="0">
                <a:solidFill>
                  <a:srgbClr val="FFFFFF"/>
                </a:solidFill>
              </a:rPr>
              <a:t>- connection </a:t>
            </a:r>
            <a:r>
              <a:rPr lang="en-US" dirty="0">
                <a:solidFill>
                  <a:srgbClr val="FFFFFF"/>
                </a:solidFill>
              </a:rPr>
              <a:t>is created between people and form a single unique public information as well as the identification system</a:t>
            </a:r>
          </a:p>
        </p:txBody>
      </p:sp>
      <p:sp>
        <p:nvSpPr>
          <p:cNvPr id="7" name="Название 1"/>
          <p:cNvSpPr>
            <a:spLocks noGrp="1"/>
          </p:cNvSpPr>
          <p:nvPr>
            <p:ph type="ctrTitle"/>
          </p:nvPr>
        </p:nvSpPr>
        <p:spPr>
          <a:xfrm>
            <a:off x="588557" y="101263"/>
            <a:ext cx="8055494" cy="1060448"/>
          </a:xfrm>
        </p:spPr>
        <p:txBody>
          <a:bodyPr>
            <a:normAutofit/>
          </a:bodyPr>
          <a:lstStyle/>
          <a:p>
            <a:pPr lvl="0" algn="l"/>
            <a:r>
              <a:rPr lang="en-GB" sz="4000" b="1" dirty="0" smtClean="0">
                <a:solidFill>
                  <a:schemeClr val="bg1"/>
                </a:solidFill>
              </a:rPr>
              <a:t>TECHNOLOGIES AND UNIQUENESS</a:t>
            </a:r>
            <a:endParaRPr lang="ru-RU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3396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608</Words>
  <Application>Microsoft Macintosh PowerPoint</Application>
  <PresentationFormat>Экран (4:3)</PresentationFormat>
  <Paragraphs>75</Paragraphs>
  <Slides>9</Slides>
  <Notes>9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GEO  The Economics of Interchange</vt:lpstr>
      <vt:lpstr>GEO  </vt:lpstr>
      <vt:lpstr>SOLUTION</vt:lpstr>
      <vt:lpstr>CAPABILITIES</vt:lpstr>
      <vt:lpstr>SYSTEM USERS</vt:lpstr>
      <vt:lpstr>KEY INDEXES</vt:lpstr>
      <vt:lpstr>DISTRIBUTION CHANNELS</vt:lpstr>
      <vt:lpstr>EXPENSES STRUCTURE</vt:lpstr>
      <vt:lpstr>TECHNOLOGIES AND UNIQUENESS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  ЭКОНОМИКА ВЗАИМООБМЕНА </dc:title>
  <dc:creator>mak</dc:creator>
  <cp:lastModifiedBy>mak</cp:lastModifiedBy>
  <cp:revision>8</cp:revision>
  <dcterms:created xsi:type="dcterms:W3CDTF">2016-04-25T08:04:57Z</dcterms:created>
  <dcterms:modified xsi:type="dcterms:W3CDTF">2016-05-02T19:44:25Z</dcterms:modified>
</cp:coreProperties>
</file>